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sldIdLst>
    <p:sldId id="256" r:id="rId2"/>
  </p:sldIdLst>
  <p:sldSz cx="15119350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86"/>
    <p:restoredTop sz="96255"/>
  </p:normalViewPr>
  <p:slideViewPr>
    <p:cSldViewPr snapToGrid="0">
      <p:cViewPr varScale="1">
        <p:scale>
          <a:sx n="88" d="100"/>
          <a:sy n="88" d="100"/>
        </p:scale>
        <p:origin x="12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19" y="1531818"/>
            <a:ext cx="11339513" cy="3258632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4916115"/>
            <a:ext cx="11339513" cy="2259809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39D2-C91D-244F-9783-5480E2EFF4B5}" type="datetimeFigureOut">
              <a:rPr lang="en-US" smtClean="0"/>
              <a:t>5/5/23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3D2C-EB14-6C4C-8A8A-9604CBE24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0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39D2-C91D-244F-9783-5480E2EFF4B5}" type="datetimeFigureOut">
              <a:rPr lang="en-US" smtClean="0"/>
              <a:t>5/5/23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3D2C-EB14-6C4C-8A8A-9604CBE24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1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1" y="2333476"/>
            <a:ext cx="13040439" cy="3893458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1" y="6263768"/>
            <a:ext cx="13040439" cy="2047477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75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75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39D2-C91D-244F-9783-5480E2EFF4B5}" type="datetimeFigureOut">
              <a:rPr lang="en-US" smtClean="0"/>
              <a:t>5/5/23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3D2C-EB14-6C4C-8A8A-9604CBE24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0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491640"/>
            <a:ext cx="6425724" cy="59387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491640"/>
            <a:ext cx="6425724" cy="59387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39D2-C91D-244F-9783-5480E2EFF4B5}" type="datetimeFigureOut">
              <a:rPr lang="en-US" smtClean="0"/>
              <a:t>5/5/23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3D2C-EB14-6C4C-8A8A-9604CBE24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498329"/>
            <a:ext cx="13040439" cy="18091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5" y="2294476"/>
            <a:ext cx="6396193" cy="1124487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5" y="3418964"/>
            <a:ext cx="6396193" cy="50287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1" y="2294476"/>
            <a:ext cx="6427693" cy="1124487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1" y="3418964"/>
            <a:ext cx="6427693" cy="50287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39D2-C91D-244F-9783-5480E2EFF4B5}" type="datetimeFigureOut">
              <a:rPr lang="en-US" smtClean="0"/>
              <a:t>5/5/23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3D2C-EB14-6C4C-8A8A-9604CBE24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62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39D2-C91D-244F-9783-5480E2EFF4B5}" type="datetimeFigureOut">
              <a:rPr lang="en-US" smtClean="0"/>
              <a:t>5/5/23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3D2C-EB14-6C4C-8A8A-9604CBE24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0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39D2-C91D-244F-9783-5480E2EFF4B5}" type="datetimeFigureOut">
              <a:rPr lang="en-US" smtClean="0"/>
              <a:t>5/5/23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3D2C-EB14-6C4C-8A8A-9604CBE24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623993"/>
            <a:ext cx="4876383" cy="2183977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347653"/>
            <a:ext cx="7654171" cy="6651596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807970"/>
            <a:ext cx="4876383" cy="5202112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39D2-C91D-244F-9783-5480E2EFF4B5}" type="datetimeFigureOut">
              <a:rPr lang="en-US" smtClean="0"/>
              <a:t>5/5/23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3D2C-EB14-6C4C-8A8A-9604CBE24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80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623993"/>
            <a:ext cx="4876383" cy="2183977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347653"/>
            <a:ext cx="7654171" cy="6651596"/>
          </a:xfrm>
        </p:spPr>
        <p:txBody>
          <a:bodyPr anchor="t"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807970"/>
            <a:ext cx="4876383" cy="5202112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39D2-C91D-244F-9783-5480E2EFF4B5}" type="datetimeFigureOut">
              <a:rPr lang="en-US" smtClean="0"/>
              <a:t>5/5/23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3D2C-EB14-6C4C-8A8A-9604CBE24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55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39D2-C91D-244F-9783-5480E2EFF4B5}" type="datetimeFigureOut">
              <a:rPr lang="en-US" smtClean="0"/>
              <a:t>5/5/23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3D2C-EB14-6C4C-8A8A-9604CBE24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34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5" y="498328"/>
            <a:ext cx="3260110" cy="793208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5" y="498328"/>
            <a:ext cx="9591338" cy="793208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D39D2-C91D-244F-9783-5480E2EFF4B5}" type="datetimeFigureOut">
              <a:rPr lang="en-US" smtClean="0"/>
              <a:t>5/5/23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3D2C-EB14-6C4C-8A8A-9604CBE24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1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498329"/>
            <a:ext cx="13040439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491640"/>
            <a:ext cx="13040439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8675241"/>
            <a:ext cx="3401854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D39D2-C91D-244F-9783-5480E2EFF4B5}" type="datetimeFigureOut">
              <a:rPr lang="en-US" smtClean="0"/>
              <a:t>5/5/23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8675241"/>
            <a:ext cx="5102781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8675241"/>
            <a:ext cx="3401854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D3D2C-EB14-6C4C-8A8A-9604CBE24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5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8F8357-FCC2-4E54-E1CC-9EC2423C5EFA}"/>
              </a:ext>
            </a:extLst>
          </p:cNvPr>
          <p:cNvSpPr txBox="1"/>
          <p:nvPr/>
        </p:nvSpPr>
        <p:spPr>
          <a:xfrm>
            <a:off x="1003323" y="1323215"/>
            <a:ext cx="15252969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4000" dirty="0">
                <a:solidFill>
                  <a:srgbClr val="000000"/>
                </a:solidFill>
              </a:rPr>
              <a:t>{</a:t>
            </a:r>
          </a:p>
          <a:p>
            <a:r>
              <a:rPr lang="en-SG" sz="4000" dirty="0">
                <a:solidFill>
                  <a:srgbClr val="000000"/>
                </a:solidFill>
              </a:rPr>
              <a:t>"</a:t>
            </a:r>
            <a:r>
              <a:rPr lang="en-SG" sz="4000" dirty="0"/>
              <a:t>Answer</a:t>
            </a:r>
            <a:r>
              <a:rPr lang="en-SG" sz="4000" dirty="0">
                <a:solidFill>
                  <a:srgbClr val="000000"/>
                </a:solidFill>
              </a:rPr>
              <a:t>": "Yes",</a:t>
            </a:r>
          </a:p>
          <a:p>
            <a:r>
              <a:rPr lang="en-SG" sz="4000" dirty="0">
                <a:solidFill>
                  <a:srgbClr val="000000"/>
                </a:solidFill>
              </a:rPr>
              <a:t>"</a:t>
            </a:r>
            <a:r>
              <a:rPr lang="en-SG" sz="4000" dirty="0" err="1"/>
              <a:t>similar_expressions</a:t>
            </a:r>
            <a:r>
              <a:rPr lang="en-SG" sz="4000" dirty="0">
                <a:solidFill>
                  <a:srgbClr val="000000"/>
                </a:solidFill>
              </a:rPr>
              <a:t>": [</a:t>
            </a:r>
          </a:p>
          <a:p>
            <a:r>
              <a:rPr lang="en-SG" sz="4000" dirty="0">
                <a:solidFill>
                  <a:srgbClr val="000000"/>
                </a:solidFill>
              </a:rPr>
              <a:t>{</a:t>
            </a:r>
          </a:p>
          <a:p>
            <a:r>
              <a:rPr lang="en-SG" sz="4000" dirty="0">
                <a:solidFill>
                  <a:srgbClr val="000000"/>
                </a:solidFill>
              </a:rPr>
              <a:t>"</a:t>
            </a:r>
            <a:r>
              <a:rPr lang="en-SG" sz="4000" dirty="0" err="1"/>
              <a:t>function_name</a:t>
            </a:r>
            <a:r>
              <a:rPr lang="en-SG" sz="4000" dirty="0">
                <a:solidFill>
                  <a:srgbClr val="000000"/>
                </a:solidFill>
              </a:rPr>
              <a:t>": "</a:t>
            </a:r>
            <a:r>
              <a:rPr lang="en-SG" sz="4000" dirty="0" err="1">
                <a:solidFill>
                  <a:srgbClr val="000000"/>
                </a:solidFill>
              </a:rPr>
              <a:t>calculateCollateralAmount</a:t>
            </a:r>
            <a:r>
              <a:rPr lang="en-SG" sz="4000" dirty="0">
                <a:solidFill>
                  <a:srgbClr val="000000"/>
                </a:solidFill>
              </a:rPr>
              <a:t>",</a:t>
            </a:r>
          </a:p>
          <a:p>
            <a:r>
              <a:rPr lang="en-SG" sz="4000" dirty="0">
                <a:solidFill>
                  <a:srgbClr val="000000"/>
                </a:solidFill>
              </a:rPr>
              <a:t>"</a:t>
            </a:r>
            <a:r>
              <a:rPr lang="en-SG" sz="4000" dirty="0" err="1">
                <a:solidFill>
                  <a:srgbClr val="C00000"/>
                </a:solidFill>
              </a:rPr>
              <a:t>line_number</a:t>
            </a:r>
            <a:r>
              <a:rPr lang="en-SG" sz="4000" dirty="0">
                <a:solidFill>
                  <a:srgbClr val="000000"/>
                </a:solidFill>
              </a:rPr>
              <a:t>": 107,</a:t>
            </a:r>
          </a:p>
          <a:p>
            <a:r>
              <a:rPr lang="en-SG" sz="4000" dirty="0">
                <a:solidFill>
                  <a:srgbClr val="000000"/>
                </a:solidFill>
              </a:rPr>
              <a:t>"</a:t>
            </a:r>
            <a:r>
              <a:rPr lang="en-SG" sz="4000" dirty="0"/>
              <a:t>expression</a:t>
            </a:r>
            <a:r>
              <a:rPr lang="en-SG" sz="4000" dirty="0">
                <a:solidFill>
                  <a:srgbClr val="000000"/>
                </a:solidFill>
              </a:rPr>
              <a:t>": "return (</a:t>
            </a:r>
            <a:r>
              <a:rPr lang="en-SG" sz="4000" dirty="0" err="1">
                <a:solidFill>
                  <a:srgbClr val="000000"/>
                </a:solidFill>
              </a:rPr>
              <a:t>tokenPricePerUnit</a:t>
            </a:r>
            <a:r>
              <a:rPr lang="en-SG" sz="4000" dirty="0">
                <a:solidFill>
                  <a:srgbClr val="000000"/>
                </a:solidFill>
              </a:rPr>
              <a:t>*_</a:t>
            </a:r>
            <a:r>
              <a:rPr lang="en-SG" sz="4000" dirty="0" err="1">
                <a:solidFill>
                  <a:srgbClr val="000000"/>
                </a:solidFill>
              </a:rPr>
              <a:t>liquidateAmount</a:t>
            </a:r>
            <a:r>
              <a:rPr lang="en-SG" sz="4000" dirty="0">
                <a:solidFill>
                  <a:srgbClr val="000000"/>
                </a:solidFill>
              </a:rPr>
              <a:t>* </a:t>
            </a:r>
            <a:r>
              <a:rPr lang="en-SG" sz="4000" dirty="0" err="1">
                <a:solidFill>
                  <a:srgbClr val="000000"/>
                </a:solidFill>
              </a:rPr>
              <a:t>liquidationBonus</a:t>
            </a:r>
            <a:r>
              <a:rPr lang="en-SG" sz="4000" dirty="0">
                <a:solidFill>
                  <a:srgbClr val="000000"/>
                </a:solidFill>
              </a:rPr>
              <a:t>) / </a:t>
            </a:r>
            <a:r>
              <a:rPr lang="en-SG" sz="4000" dirty="0" err="1">
                <a:solidFill>
                  <a:srgbClr val="000000"/>
                </a:solidFill>
              </a:rPr>
              <a:t>collateralPricePerUnit</a:t>
            </a:r>
            <a:r>
              <a:rPr lang="en-SG" sz="4000" dirty="0">
                <a:solidFill>
                  <a:srgbClr val="000000"/>
                </a:solidFill>
              </a:rPr>
              <a:t>;"</a:t>
            </a:r>
          </a:p>
          <a:p>
            <a:r>
              <a:rPr lang="en-SG" sz="4000" dirty="0">
                <a:solidFill>
                  <a:srgbClr val="000000"/>
                </a:solidFill>
              </a:rPr>
              <a:t>}</a:t>
            </a:r>
          </a:p>
          <a:p>
            <a:r>
              <a:rPr lang="en-SG" sz="4000" dirty="0">
                <a:solidFill>
                  <a:srgbClr val="000000"/>
                </a:solidFill>
              </a:rPr>
              <a:t>],</a:t>
            </a:r>
          </a:p>
          <a:p>
            <a:r>
              <a:rPr lang="en-SG" sz="4000" dirty="0">
                <a:solidFill>
                  <a:srgbClr val="000000"/>
                </a:solidFill>
              </a:rPr>
              <a:t>"</a:t>
            </a:r>
            <a:r>
              <a:rPr lang="en-SG" sz="4000" dirty="0">
                <a:solidFill>
                  <a:srgbClr val="C00000"/>
                </a:solidFill>
              </a:rPr>
              <a:t>Reason</a:t>
            </a:r>
            <a:r>
              <a:rPr lang="en-SG" sz="4000" dirty="0">
                <a:solidFill>
                  <a:srgbClr val="000000"/>
                </a:solidFill>
              </a:rPr>
              <a:t>": "Both expressions involve multiplication and division operations with variables representing prices and bonuses."</a:t>
            </a:r>
          </a:p>
          <a:p>
            <a:r>
              <a:rPr lang="en-SG" sz="4000" dirty="0">
                <a:solidFill>
                  <a:srgbClr val="000000"/>
                </a:solidFill>
              </a:rPr>
              <a:t>}</a:t>
            </a:r>
          </a:p>
          <a:p>
            <a:endParaRPr lang="en-SG" sz="4000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6C92CC-E9F2-53AB-074B-C91C0B60CA11}"/>
              </a:ext>
            </a:extLst>
          </p:cNvPr>
          <p:cNvSpPr txBox="1"/>
          <p:nvPr/>
        </p:nvSpPr>
        <p:spPr>
          <a:xfrm>
            <a:off x="1032084" y="-224"/>
            <a:ext cx="143844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4000" dirty="0">
                <a:solidFill>
                  <a:srgbClr val="000000"/>
                </a:solidFill>
              </a:rPr>
              <a:t>return (</a:t>
            </a:r>
            <a:r>
              <a:rPr lang="en-SG" sz="4000" dirty="0" err="1">
                <a:solidFill>
                  <a:srgbClr val="000000"/>
                </a:solidFill>
              </a:rPr>
              <a:t>liquidate_amount</a:t>
            </a:r>
            <a:r>
              <a:rPr lang="en-SG" sz="4000" dirty="0">
                <a:solidFill>
                  <a:srgbClr val="000000"/>
                </a:solidFill>
              </a:rPr>
              <a:t> * </a:t>
            </a:r>
            <a:r>
              <a:rPr lang="en-SG" sz="4000" dirty="0" err="1">
                <a:solidFill>
                  <a:srgbClr val="000000"/>
                </a:solidFill>
              </a:rPr>
              <a:t>price_liquidate</a:t>
            </a:r>
            <a:r>
              <a:rPr lang="en-SG" sz="4000" dirty="0">
                <a:solidFill>
                  <a:srgbClr val="000000"/>
                </a:solidFill>
              </a:rPr>
              <a:t> / </a:t>
            </a:r>
            <a:r>
              <a:rPr lang="en-SG" sz="4000" dirty="0" err="1">
                <a:solidFill>
                  <a:srgbClr val="000000"/>
                </a:solidFill>
              </a:rPr>
              <a:t>price_collateral_asset</a:t>
            </a:r>
            <a:r>
              <a:rPr lang="en-SG" sz="4000" dirty="0">
                <a:solidFill>
                  <a:srgbClr val="000000"/>
                </a:solidFill>
              </a:rPr>
              <a:t>) * </a:t>
            </a:r>
            <a:r>
              <a:rPr lang="en-SG" sz="4000" dirty="0" err="1">
                <a:solidFill>
                  <a:srgbClr val="000000"/>
                </a:solidFill>
              </a:rPr>
              <a:t>liquidation_bonus</a:t>
            </a:r>
            <a:r>
              <a:rPr lang="en-SG" sz="4000" dirty="0">
                <a:solidFill>
                  <a:srgbClr val="000000"/>
                </a:solidFill>
              </a:rPr>
              <a:t>;</a:t>
            </a:r>
          </a:p>
        </p:txBody>
      </p:sp>
      <p:pic>
        <p:nvPicPr>
          <p:cNvPr id="11" name="Picture 10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EE15A123-CD86-F277-3B46-3DD771C95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8" y="215096"/>
            <a:ext cx="933856" cy="933856"/>
          </a:xfrm>
          <a:prstGeom prst="rect">
            <a:avLst/>
          </a:prstGeom>
        </p:spPr>
      </p:pic>
      <p:pic>
        <p:nvPicPr>
          <p:cNvPr id="1026" name="Picture 2" descr="ChatGPT - Wikipedia">
            <a:extLst>
              <a:ext uri="{FF2B5EF4-FFF2-40B4-BE49-F238E27FC236}">
                <a16:creationId xmlns:a16="http://schemas.microsoft.com/office/drawing/2014/main" id="{8BF3B3C6-9A93-335E-DA17-3432CA5D4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1" y="1447061"/>
            <a:ext cx="878754" cy="878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92D41B-EAE4-18FE-12BC-039A064C01F0}"/>
              </a:ext>
            </a:extLst>
          </p:cNvPr>
          <p:cNvCxnSpPr>
            <a:cxnSpLocks/>
          </p:cNvCxnSpPr>
          <p:nvPr/>
        </p:nvCxnSpPr>
        <p:spPr>
          <a:xfrm>
            <a:off x="-27319" y="1298006"/>
            <a:ext cx="15190211" cy="0"/>
          </a:xfrm>
          <a:prstGeom prst="line">
            <a:avLst/>
          </a:prstGeom>
          <a:ln w="25400">
            <a:solidFill>
              <a:schemeClr val="tx1">
                <a:alpha val="33088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87162D0-D5D6-9997-D572-BDA24BC82969}"/>
              </a:ext>
            </a:extLst>
          </p:cNvPr>
          <p:cNvSpPr/>
          <p:nvPr/>
        </p:nvSpPr>
        <p:spPr>
          <a:xfrm>
            <a:off x="1003323" y="7474862"/>
            <a:ext cx="13659734" cy="1204680"/>
          </a:xfrm>
          <a:prstGeom prst="rect">
            <a:avLst/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1D27C7-B203-FB63-17C4-84049A54C6E5}"/>
              </a:ext>
            </a:extLst>
          </p:cNvPr>
          <p:cNvSpPr/>
          <p:nvPr/>
        </p:nvSpPr>
        <p:spPr>
          <a:xfrm>
            <a:off x="1057191" y="4470865"/>
            <a:ext cx="13659734" cy="534281"/>
          </a:xfrm>
          <a:prstGeom prst="rect">
            <a:avLst/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001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1461</TotalTime>
  <Words>86</Words>
  <Application>Microsoft Macintosh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12</cp:revision>
  <dcterms:created xsi:type="dcterms:W3CDTF">2023-05-04T11:58:54Z</dcterms:created>
  <dcterms:modified xsi:type="dcterms:W3CDTF">2023-05-05T13:38:06Z</dcterms:modified>
</cp:coreProperties>
</file>