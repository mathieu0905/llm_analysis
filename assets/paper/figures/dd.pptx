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8" r:id="rId1"/>
  </p:sldMasterIdLst>
  <p:sldIdLst>
    <p:sldId id="256" r:id="rId2"/>
  </p:sldIdLst>
  <p:sldSz cx="133207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55"/>
  </p:normalViewPr>
  <p:slideViewPr>
    <p:cSldViewPr snapToGrid="0">
      <p:cViewPr varScale="1">
        <p:scale>
          <a:sx n="81" d="100"/>
          <a:sy n="81" d="100"/>
        </p:scale>
        <p:origin x="2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1767462"/>
            <a:ext cx="11322606" cy="3759917"/>
          </a:xfrm>
        </p:spPr>
        <p:txBody>
          <a:bodyPr anchor="b"/>
          <a:lstStyle>
            <a:lvl1pPr algn="ctr">
              <a:defRPr sz="87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5672376"/>
            <a:ext cx="9990535" cy="2607442"/>
          </a:xfrm>
        </p:spPr>
        <p:txBody>
          <a:bodyPr/>
          <a:lstStyle>
            <a:lvl1pPr marL="0" indent="0" algn="ctr">
              <a:buNone/>
              <a:defRPr sz="3496"/>
            </a:lvl1pPr>
            <a:lvl2pPr marL="666049" indent="0" algn="ctr">
              <a:buNone/>
              <a:defRPr sz="2914"/>
            </a:lvl2pPr>
            <a:lvl3pPr marL="1332098" indent="0" algn="ctr">
              <a:buNone/>
              <a:defRPr sz="2622"/>
            </a:lvl3pPr>
            <a:lvl4pPr marL="1998147" indent="0" algn="ctr">
              <a:buNone/>
              <a:defRPr sz="2331"/>
            </a:lvl4pPr>
            <a:lvl5pPr marL="2664196" indent="0" algn="ctr">
              <a:buNone/>
              <a:defRPr sz="2331"/>
            </a:lvl5pPr>
            <a:lvl6pPr marL="3330245" indent="0" algn="ctr">
              <a:buNone/>
              <a:defRPr sz="2331"/>
            </a:lvl6pPr>
            <a:lvl7pPr marL="3996294" indent="0" algn="ctr">
              <a:buNone/>
              <a:defRPr sz="2331"/>
            </a:lvl7pPr>
            <a:lvl8pPr marL="4662343" indent="0" algn="ctr">
              <a:buNone/>
              <a:defRPr sz="2331"/>
            </a:lvl8pPr>
            <a:lvl9pPr marL="5328392" indent="0" algn="ctr">
              <a:buNone/>
              <a:defRPr sz="233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4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1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2692444"/>
            <a:ext cx="11489115" cy="4492401"/>
          </a:xfrm>
        </p:spPr>
        <p:txBody>
          <a:bodyPr anchor="b"/>
          <a:lstStyle>
            <a:lvl1pPr>
              <a:defRPr sz="87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7227345"/>
            <a:ext cx="11489115" cy="2362447"/>
          </a:xfrm>
        </p:spPr>
        <p:txBody>
          <a:bodyPr/>
          <a:lstStyle>
            <a:lvl1pPr marL="0" indent="0">
              <a:buNone/>
              <a:defRPr sz="3496">
                <a:solidFill>
                  <a:schemeClr val="tx1"/>
                </a:solidFill>
              </a:defRPr>
            </a:lvl1pPr>
            <a:lvl2pPr marL="666049" indent="0">
              <a:buNone/>
              <a:defRPr sz="2914">
                <a:solidFill>
                  <a:schemeClr val="tx1">
                    <a:tint val="75000"/>
                  </a:schemeClr>
                </a:solidFill>
              </a:defRPr>
            </a:lvl2pPr>
            <a:lvl3pPr marL="1332098" indent="0">
              <a:buNone/>
              <a:defRPr sz="2622">
                <a:solidFill>
                  <a:schemeClr val="tx1">
                    <a:tint val="75000"/>
                  </a:schemeClr>
                </a:solidFill>
              </a:defRPr>
            </a:lvl3pPr>
            <a:lvl4pPr marL="1998147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4pPr>
            <a:lvl5pPr marL="2664196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5pPr>
            <a:lvl6pPr marL="3330245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6pPr>
            <a:lvl7pPr marL="3996294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7pPr>
            <a:lvl8pPr marL="4662343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8pPr>
            <a:lvl9pPr marL="5328392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2874937"/>
            <a:ext cx="5661303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2874937"/>
            <a:ext cx="5661303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4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574990"/>
            <a:ext cx="11489115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2647443"/>
            <a:ext cx="5635285" cy="1297471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3944914"/>
            <a:ext cx="5635285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2647443"/>
            <a:ext cx="5663038" cy="1297471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3944914"/>
            <a:ext cx="5663038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5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4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19984"/>
            <a:ext cx="4296277" cy="2519945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1554968"/>
            <a:ext cx="6743611" cy="7674832"/>
          </a:xfrm>
        </p:spPr>
        <p:txBody>
          <a:bodyPr/>
          <a:lstStyle>
            <a:lvl1pPr>
              <a:defRPr sz="4662"/>
            </a:lvl1pPr>
            <a:lvl2pPr>
              <a:defRPr sz="4079"/>
            </a:lvl2pPr>
            <a:lvl3pPr>
              <a:defRPr sz="3496"/>
            </a:lvl3pPr>
            <a:lvl4pPr>
              <a:defRPr sz="2914"/>
            </a:lvl4pPr>
            <a:lvl5pPr>
              <a:defRPr sz="2914"/>
            </a:lvl5pPr>
            <a:lvl6pPr>
              <a:defRPr sz="2914"/>
            </a:lvl6pPr>
            <a:lvl7pPr>
              <a:defRPr sz="2914"/>
            </a:lvl7pPr>
            <a:lvl8pPr>
              <a:defRPr sz="2914"/>
            </a:lvl8pPr>
            <a:lvl9pPr>
              <a:defRPr sz="291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239929"/>
            <a:ext cx="4296277" cy="6002369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4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19984"/>
            <a:ext cx="4296277" cy="2519945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1554968"/>
            <a:ext cx="6743611" cy="7674832"/>
          </a:xfrm>
        </p:spPr>
        <p:txBody>
          <a:bodyPr anchor="t"/>
          <a:lstStyle>
            <a:lvl1pPr marL="0" indent="0">
              <a:buNone/>
              <a:defRPr sz="4662"/>
            </a:lvl1pPr>
            <a:lvl2pPr marL="666049" indent="0">
              <a:buNone/>
              <a:defRPr sz="4079"/>
            </a:lvl2pPr>
            <a:lvl3pPr marL="1332098" indent="0">
              <a:buNone/>
              <a:defRPr sz="3496"/>
            </a:lvl3pPr>
            <a:lvl4pPr marL="1998147" indent="0">
              <a:buNone/>
              <a:defRPr sz="2914"/>
            </a:lvl4pPr>
            <a:lvl5pPr marL="2664196" indent="0">
              <a:buNone/>
              <a:defRPr sz="2914"/>
            </a:lvl5pPr>
            <a:lvl6pPr marL="3330245" indent="0">
              <a:buNone/>
              <a:defRPr sz="2914"/>
            </a:lvl6pPr>
            <a:lvl7pPr marL="3996294" indent="0">
              <a:buNone/>
              <a:defRPr sz="2914"/>
            </a:lvl7pPr>
            <a:lvl8pPr marL="4662343" indent="0">
              <a:buNone/>
              <a:defRPr sz="2914"/>
            </a:lvl8pPr>
            <a:lvl9pPr marL="5328392" indent="0">
              <a:buNone/>
              <a:defRPr sz="291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239929"/>
            <a:ext cx="4296277" cy="6002369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8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574987"/>
            <a:ext cx="2872279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574987"/>
            <a:ext cx="8450327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5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574990"/>
            <a:ext cx="1148911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2874937"/>
            <a:ext cx="1148911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10009783"/>
            <a:ext cx="299716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10009783"/>
            <a:ext cx="449574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10009783"/>
            <a:ext cx="299716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1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1332098" rtl="0" eaLnBrk="1" latinLnBrk="0" hangingPunct="1">
        <a:lnSpc>
          <a:spcPct val="90000"/>
        </a:lnSpc>
        <a:spcBef>
          <a:spcPct val="0"/>
        </a:spcBef>
        <a:buNone/>
        <a:defRPr sz="6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024" indent="-333024" algn="l" defTabSz="1332098" rtl="0" eaLnBrk="1" latinLnBrk="0" hangingPunct="1">
        <a:lnSpc>
          <a:spcPct val="90000"/>
        </a:lnSpc>
        <a:spcBef>
          <a:spcPts val="1457"/>
        </a:spcBef>
        <a:buFont typeface="Arial" panose="020B0604020202020204" pitchFamily="34" charset="0"/>
        <a:buChar char="•"/>
        <a:defRPr sz="4079" kern="1200">
          <a:solidFill>
            <a:schemeClr val="tx1"/>
          </a:solidFill>
          <a:latin typeface="+mn-lt"/>
          <a:ea typeface="+mn-ea"/>
          <a:cs typeface="+mn-cs"/>
        </a:defRPr>
      </a:lvl1pPr>
      <a:lvl2pPr marL="999073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3496" kern="1200">
          <a:solidFill>
            <a:schemeClr val="tx1"/>
          </a:solidFill>
          <a:latin typeface="+mn-lt"/>
          <a:ea typeface="+mn-ea"/>
          <a:cs typeface="+mn-cs"/>
        </a:defRPr>
      </a:lvl2pPr>
      <a:lvl3pPr marL="1665122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914" kern="1200">
          <a:solidFill>
            <a:schemeClr val="tx1"/>
          </a:solidFill>
          <a:latin typeface="+mn-lt"/>
          <a:ea typeface="+mn-ea"/>
          <a:cs typeface="+mn-cs"/>
        </a:defRPr>
      </a:lvl3pPr>
      <a:lvl4pPr marL="2331171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997220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663269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4329318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995367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661416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1pPr>
      <a:lvl2pPr marL="666049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2pPr>
      <a:lvl3pPr marL="1332098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3pPr>
      <a:lvl4pPr marL="1998147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664196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330245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3996294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662343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328392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19F8D04-3A6D-3164-0E8F-BD27BBFADC86}"/>
              </a:ext>
            </a:extLst>
          </p:cNvPr>
          <p:cNvSpPr txBox="1"/>
          <p:nvPr/>
        </p:nvSpPr>
        <p:spPr>
          <a:xfrm>
            <a:off x="6229235" y="0"/>
            <a:ext cx="8177652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contract</a:t>
            </a:r>
            <a:r>
              <a:rPr lang="en-SG" sz="4000" dirty="0">
                <a:solidFill>
                  <a:srgbClr val="267F99"/>
                </a:solidFill>
              </a:rPr>
              <a:t> </a:t>
            </a:r>
            <a:r>
              <a:rPr lang="en-SG" sz="4000" dirty="0">
                <a:solidFill>
                  <a:srgbClr val="C00000"/>
                </a:solidFill>
              </a:rPr>
              <a:t>Reference</a:t>
            </a:r>
            <a:r>
              <a:rPr lang="en-SG" sz="4000" dirty="0">
                <a:solidFill>
                  <a:srgbClr val="000000"/>
                </a:solidFill>
              </a:rPr>
              <a:t>{</a:t>
            </a:r>
          </a:p>
          <a:p>
            <a:pPr lvl="1"/>
            <a:r>
              <a:rPr lang="en-SG" sz="4000" dirty="0"/>
              <a:t>// Taint Analysis</a:t>
            </a:r>
            <a:br>
              <a:rPr lang="en-SG" sz="4000" dirty="0">
                <a:solidFill>
                  <a:srgbClr val="000000"/>
                </a:solidFill>
              </a:rPr>
            </a:br>
            <a:r>
              <a:rPr lang="en-SG" sz="4000" dirty="0">
                <a:solidFill>
                  <a:schemeClr val="accent1">
                    <a:lumMod val="50000"/>
                  </a:schemeClr>
                </a:solidFill>
              </a:rPr>
              <a:t>struct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>
                <a:solidFill>
                  <a:srgbClr val="C00000"/>
                </a:solidFill>
              </a:rPr>
              <a:t>Ref</a:t>
            </a:r>
            <a:r>
              <a:rPr lang="en-SG" sz="4000" dirty="0">
                <a:solidFill>
                  <a:srgbClr val="000000"/>
                </a:solidFill>
              </a:rPr>
              <a:t>{</a:t>
            </a:r>
          </a:p>
          <a:p>
            <a:pPr lvl="1"/>
            <a:r>
              <a:rPr lang="en-SG" sz="4000" dirty="0">
                <a:solidFill>
                  <a:srgbClr val="267F99"/>
                </a:solidFill>
              </a:rPr>
              <a:t>		</a:t>
            </a:r>
            <a:r>
              <a:rPr lang="en-SG" sz="4000" dirty="0" err="1">
                <a:solidFill>
                  <a:srgbClr val="C00000"/>
                </a:solidFill>
              </a:rPr>
              <a:t>uint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 err="1">
                <a:solidFill>
                  <a:srgbClr val="000000"/>
                </a:solidFill>
              </a:rPr>
              <a:t>val</a:t>
            </a:r>
            <a:r>
              <a:rPr lang="en-SG" sz="4000" dirty="0">
                <a:solidFill>
                  <a:srgbClr val="000000"/>
                </a:solidFill>
              </a:rPr>
              <a:t>;</a:t>
            </a:r>
          </a:p>
          <a:p>
            <a:pPr lvl="1"/>
            <a:r>
              <a:rPr lang="en-SG" sz="4000" dirty="0">
                <a:solidFill>
                  <a:srgbClr val="000000"/>
                </a:solidFill>
              </a:rPr>
              <a:t>}</a:t>
            </a:r>
            <a:br>
              <a:rPr lang="en-SG" sz="4000" dirty="0">
                <a:solidFill>
                  <a:srgbClr val="000000"/>
                </a:solidFill>
              </a:rPr>
            </a:br>
            <a:r>
              <a:rPr lang="en-SG" sz="4000" dirty="0">
                <a:solidFill>
                  <a:srgbClr val="C00000"/>
                </a:solidFill>
              </a:rPr>
              <a:t>Ref</a:t>
            </a:r>
            <a:r>
              <a:rPr lang="en-SG" sz="4000" dirty="0">
                <a:solidFill>
                  <a:srgbClr val="000000"/>
                </a:solidFill>
              </a:rPr>
              <a:t> a;</a:t>
            </a:r>
          </a:p>
          <a:p>
            <a:pPr lvl="1"/>
            <a:r>
              <a:rPr lang="en-SG" sz="4000" dirty="0">
                <a:solidFill>
                  <a:srgbClr val="C00000"/>
                </a:solidFill>
              </a:rPr>
              <a:t>Ref</a:t>
            </a:r>
            <a:r>
              <a:rPr lang="en-SG" sz="4000" dirty="0">
                <a:solidFill>
                  <a:srgbClr val="000000"/>
                </a:solidFill>
              </a:rPr>
              <a:t> b;</a:t>
            </a:r>
            <a:br>
              <a:rPr lang="en-SG" sz="4000" dirty="0">
                <a:solidFill>
                  <a:srgbClr val="000000"/>
                </a:solidFill>
              </a:rPr>
            </a:br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/>
              <a:t>set</a:t>
            </a:r>
            <a:r>
              <a:rPr lang="en-SG" sz="4000" dirty="0">
                <a:solidFill>
                  <a:srgbClr val="000000"/>
                </a:solidFill>
              </a:rPr>
              <a:t>(</a:t>
            </a:r>
            <a:r>
              <a:rPr lang="en-SG" sz="4000" dirty="0" err="1">
                <a:solidFill>
                  <a:srgbClr val="C00000"/>
                </a:solidFill>
              </a:rPr>
              <a:t>uint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 err="1">
                <a:solidFill>
                  <a:srgbClr val="001080"/>
                </a:solidFill>
                <a:highlight>
                  <a:srgbClr val="C0C0C0"/>
                </a:highlight>
              </a:rPr>
              <a:t>source_taint</a:t>
            </a:r>
            <a:r>
              <a:rPr lang="en-SG" sz="4000" dirty="0">
                <a:solidFill>
                  <a:srgbClr val="000000"/>
                </a:solidFill>
              </a:rPr>
              <a:t>) </a:t>
            </a:r>
            <a:r>
              <a:rPr lang="en-SG" sz="4000" dirty="0">
                <a:solidFill>
                  <a:srgbClr val="C00000"/>
                </a:solidFill>
              </a:rPr>
              <a:t>public</a:t>
            </a:r>
          </a:p>
          <a:p>
            <a:pPr lvl="1"/>
            <a:r>
              <a:rPr lang="en-SG" sz="4000" dirty="0">
                <a:solidFill>
                  <a:srgbClr val="000000"/>
                </a:solidFill>
              </a:rPr>
              <a:t>{</a:t>
            </a:r>
          </a:p>
          <a:p>
            <a:pPr lvl="1"/>
            <a:r>
              <a:rPr lang="en-SG" sz="4000" dirty="0">
                <a:solidFill>
                  <a:srgbClr val="000000"/>
                </a:solidFill>
              </a:rPr>
              <a:t>	</a:t>
            </a:r>
            <a:r>
              <a:rPr lang="en-SG" sz="4000" dirty="0">
                <a:solidFill>
                  <a:srgbClr val="267F99"/>
                </a:solidFill>
              </a:rPr>
              <a:t> 	</a:t>
            </a:r>
            <a:r>
              <a:rPr lang="en-SG" sz="4000" dirty="0">
                <a:solidFill>
                  <a:srgbClr val="C00000"/>
                </a:solidFill>
              </a:rPr>
              <a:t>Ref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/>
              <a:t>storage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>
                <a:solidFill>
                  <a:srgbClr val="000000"/>
                </a:solidFill>
                <a:highlight>
                  <a:srgbClr val="C0C0C0"/>
                </a:highlight>
              </a:rPr>
              <a:t>r</a:t>
            </a:r>
            <a:r>
              <a:rPr lang="en-SG" sz="4000" dirty="0">
                <a:solidFill>
                  <a:srgbClr val="000000"/>
                </a:solidFill>
              </a:rPr>
              <a:t> = </a:t>
            </a:r>
            <a:r>
              <a:rPr lang="en-SG" sz="4000" dirty="0">
                <a:solidFill>
                  <a:srgbClr val="000000"/>
                </a:solidFill>
                <a:highlight>
                  <a:srgbClr val="C0C0C0"/>
                </a:highlight>
              </a:rPr>
              <a:t>a</a:t>
            </a:r>
            <a:r>
              <a:rPr lang="en-SG" sz="4000" dirty="0">
                <a:solidFill>
                  <a:srgbClr val="000000"/>
                </a:solidFill>
              </a:rPr>
              <a:t>;</a:t>
            </a:r>
          </a:p>
          <a:p>
            <a:pPr lvl="3"/>
            <a:r>
              <a:rPr lang="en-SG" sz="4000" dirty="0">
                <a:solidFill>
                  <a:srgbClr val="C00000"/>
                </a:solidFill>
              </a:rPr>
              <a:t>if</a:t>
            </a:r>
            <a:r>
              <a:rPr lang="en-SG" sz="4000" dirty="0">
                <a:solidFill>
                  <a:srgbClr val="000000"/>
                </a:solidFill>
              </a:rPr>
              <a:t>(</a:t>
            </a:r>
            <a:r>
              <a:rPr lang="en-SG" sz="4000" dirty="0"/>
              <a:t>true</a:t>
            </a:r>
            <a:r>
              <a:rPr lang="en-SG" sz="4000" dirty="0">
                <a:solidFill>
                  <a:srgbClr val="000000"/>
                </a:solidFill>
              </a:rPr>
              <a:t>){</a:t>
            </a:r>
          </a:p>
          <a:p>
            <a:pPr lvl="3"/>
            <a:r>
              <a:rPr lang="en-SG" sz="4000" dirty="0">
                <a:solidFill>
                  <a:srgbClr val="000000"/>
                </a:solidFill>
              </a:rPr>
              <a:t>	r = b;</a:t>
            </a:r>
          </a:p>
          <a:p>
            <a:pPr lvl="3"/>
            <a:r>
              <a:rPr lang="en-SG" sz="4000" dirty="0">
                <a:solidFill>
                  <a:srgbClr val="000000"/>
                </a:solidFill>
              </a:rPr>
              <a:t>}</a:t>
            </a:r>
          </a:p>
          <a:p>
            <a:pPr lvl="2"/>
            <a:r>
              <a:rPr lang="en-SG" sz="4000" dirty="0">
                <a:solidFill>
                  <a:srgbClr val="000000"/>
                </a:solidFill>
              </a:rPr>
              <a:t>	</a:t>
            </a:r>
            <a:r>
              <a:rPr lang="en-SG" sz="4000" dirty="0" err="1">
                <a:solidFill>
                  <a:srgbClr val="000000"/>
                </a:solidFill>
                <a:highlight>
                  <a:srgbClr val="C0C0C0"/>
                </a:highlight>
              </a:rPr>
              <a:t>r.val</a:t>
            </a:r>
            <a:r>
              <a:rPr lang="en-SG" sz="4000" dirty="0">
                <a:solidFill>
                  <a:srgbClr val="000000"/>
                </a:solidFill>
              </a:rPr>
              <a:t> = </a:t>
            </a:r>
            <a:r>
              <a:rPr lang="en-SG" sz="4000" dirty="0" err="1">
                <a:solidFill>
                  <a:srgbClr val="000000"/>
                </a:solidFill>
                <a:highlight>
                  <a:srgbClr val="C0C0C0"/>
                </a:highlight>
              </a:rPr>
              <a:t>source_taint</a:t>
            </a:r>
            <a:r>
              <a:rPr lang="en-SG" sz="4000" dirty="0">
                <a:solidFill>
                  <a:srgbClr val="000000"/>
                </a:solidFill>
              </a:rPr>
              <a:t>;</a:t>
            </a:r>
          </a:p>
          <a:p>
            <a:pPr lvl="1"/>
            <a:r>
              <a:rPr lang="en-SG" sz="4000" dirty="0">
                <a:solidFill>
                  <a:srgbClr val="000000"/>
                </a:solidFill>
              </a:rPr>
              <a:t>}</a:t>
            </a:r>
          </a:p>
          <a:p>
            <a:r>
              <a:rPr lang="en-SG" sz="4000" dirty="0">
                <a:solidFill>
                  <a:srgbClr val="000000"/>
                </a:solidFill>
              </a:rPr>
              <a:t>}</a:t>
            </a:r>
          </a:p>
          <a:p>
            <a:pPr algn="just"/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5D46E-E65A-A8ED-D44E-09FC407F8903}"/>
              </a:ext>
            </a:extLst>
          </p:cNvPr>
          <p:cNvSpPr txBox="1"/>
          <p:nvPr/>
        </p:nvSpPr>
        <p:spPr>
          <a:xfrm>
            <a:off x="805034" y="9832"/>
            <a:ext cx="51179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def</a:t>
            </a:r>
            <a:r>
              <a:rPr lang="en-SG" sz="4000" dirty="0"/>
              <a:t> f (a, b){</a:t>
            </a:r>
          </a:p>
          <a:p>
            <a:pPr algn="just"/>
            <a:r>
              <a:rPr lang="en-SG" sz="4000" dirty="0"/>
              <a:t>// Data Dependency</a:t>
            </a:r>
          </a:p>
          <a:p>
            <a:pPr algn="just"/>
            <a:r>
              <a:rPr lang="en-SG" sz="4000" dirty="0"/>
              <a:t>     	c = </a:t>
            </a:r>
            <a:r>
              <a:rPr lang="en-SG" sz="4000" dirty="0">
                <a:highlight>
                  <a:srgbClr val="C0C0C0"/>
                </a:highlight>
              </a:rPr>
              <a:t>a</a:t>
            </a:r>
            <a:r>
              <a:rPr lang="en-SG" sz="4000" dirty="0"/>
              <a:t> ;</a:t>
            </a:r>
          </a:p>
          <a:p>
            <a:pPr algn="just"/>
            <a:r>
              <a:rPr lang="en-SG" sz="4000" dirty="0"/>
              <a:t>     	d = 0;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b &lt; 0 ){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		</a:t>
            </a:r>
            <a:r>
              <a:rPr lang="en-SG" sz="4000" dirty="0">
                <a:highlight>
                  <a:srgbClr val="C0C0C0"/>
                </a:highlight>
              </a:rPr>
              <a:t>d</a:t>
            </a:r>
            <a:r>
              <a:rPr lang="en-SG" sz="4000" dirty="0"/>
              <a:t> = </a:t>
            </a:r>
            <a:r>
              <a:rPr lang="en-SG" sz="4000" dirty="0">
                <a:highlight>
                  <a:srgbClr val="C0C0C0"/>
                </a:highlight>
              </a:rPr>
              <a:t>c</a:t>
            </a:r>
            <a:r>
              <a:rPr lang="en-SG" sz="4000" dirty="0"/>
              <a:t>;</a:t>
            </a:r>
          </a:p>
          <a:p>
            <a:pPr algn="just"/>
            <a:r>
              <a:rPr lang="en-SG" sz="4000" dirty="0"/>
              <a:t>	} </a:t>
            </a:r>
          </a:p>
          <a:p>
            <a:pPr algn="just"/>
            <a:r>
              <a:rPr lang="en-SG" sz="4000" dirty="0"/>
              <a:t>     	return d;</a:t>
            </a:r>
          </a:p>
          <a:p>
            <a:pPr algn="just"/>
            <a:r>
              <a:rPr lang="en-SG" sz="4000" dirty="0"/>
              <a:t>}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4639B-D43D-93AF-87B3-D93AE78C4656}"/>
              </a:ext>
            </a:extLst>
          </p:cNvPr>
          <p:cNvSpPr txBox="1"/>
          <p:nvPr/>
        </p:nvSpPr>
        <p:spPr>
          <a:xfrm>
            <a:off x="680185" y="5923422"/>
            <a:ext cx="58525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rgbClr val="C00000"/>
                </a:solidFill>
              </a:rPr>
              <a:t>int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/>
              <a:t>main(){</a:t>
            </a:r>
          </a:p>
          <a:p>
            <a:r>
              <a:rPr lang="en-SG" sz="4000" dirty="0"/>
              <a:t>// Pointer Analysis</a:t>
            </a:r>
          </a:p>
          <a:p>
            <a:pPr lvl="1"/>
            <a:r>
              <a:rPr lang="en-SG" sz="4000" dirty="0">
                <a:solidFill>
                  <a:srgbClr val="C00000"/>
                </a:solidFill>
              </a:rPr>
              <a:t>int</a:t>
            </a:r>
            <a:r>
              <a:rPr lang="en-SG" sz="4000" dirty="0">
                <a:solidFill>
                  <a:srgbClr val="000000"/>
                </a:solidFill>
              </a:rPr>
              <a:t> c = </a:t>
            </a:r>
            <a:r>
              <a:rPr lang="en-SG" sz="4000" dirty="0"/>
              <a:t>m();</a:t>
            </a:r>
          </a:p>
          <a:p>
            <a:pPr lvl="1"/>
            <a:r>
              <a:rPr lang="en-SG" sz="4000" dirty="0">
                <a:solidFill>
                  <a:srgbClr val="C00000"/>
                </a:solidFill>
              </a:rPr>
              <a:t>int</a:t>
            </a:r>
            <a:r>
              <a:rPr lang="en-SG" sz="4000" dirty="0">
                <a:solidFill>
                  <a:srgbClr val="000000"/>
                </a:solidFill>
              </a:rPr>
              <a:t> d = </a:t>
            </a:r>
            <a:r>
              <a:rPr lang="en-SG" sz="4000" dirty="0"/>
              <a:t>f(c);</a:t>
            </a:r>
          </a:p>
          <a:p>
            <a:pPr lvl="1"/>
            <a:r>
              <a:rPr lang="en-SG" sz="4000" dirty="0">
                <a:solidFill>
                  <a:srgbClr val="C00000"/>
                </a:solidFill>
              </a:rPr>
              <a:t>int</a:t>
            </a:r>
            <a:r>
              <a:rPr lang="en-SG" sz="4000" dirty="0">
                <a:solidFill>
                  <a:srgbClr val="000000"/>
                </a:solidFill>
              </a:rPr>
              <a:t>* x = </a:t>
            </a:r>
            <a:r>
              <a:rPr lang="en-SG" sz="4000" dirty="0"/>
              <a:t>d&gt;0?</a:t>
            </a:r>
            <a:r>
              <a:rPr lang="en-SG" sz="4000" dirty="0">
                <a:solidFill>
                  <a:srgbClr val="000000"/>
                </a:solidFill>
              </a:rPr>
              <a:t>&amp;c:&amp;d;</a:t>
            </a:r>
          </a:p>
          <a:p>
            <a:r>
              <a:rPr lang="en-SG" sz="4000" dirty="0">
                <a:solidFill>
                  <a:srgbClr val="000000"/>
                </a:solidFill>
              </a:rPr>
              <a:t>}</a:t>
            </a:r>
          </a:p>
        </p:txBody>
      </p:sp>
      <p:pic>
        <p:nvPicPr>
          <p:cNvPr id="6" name="Graphic 5" descr="Badge 1 outline">
            <a:extLst>
              <a:ext uri="{FF2B5EF4-FFF2-40B4-BE49-F238E27FC236}">
                <a16:creationId xmlns:a16="http://schemas.microsoft.com/office/drawing/2014/main" id="{D75272E1-6A09-5592-343D-5CDBC87BE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798" y="1358366"/>
            <a:ext cx="975137" cy="975137"/>
          </a:xfrm>
          <a:prstGeom prst="rect">
            <a:avLst/>
          </a:prstGeom>
        </p:spPr>
      </p:pic>
      <p:pic>
        <p:nvPicPr>
          <p:cNvPr id="8" name="Graphic 7" descr="Badge outline">
            <a:extLst>
              <a:ext uri="{FF2B5EF4-FFF2-40B4-BE49-F238E27FC236}">
                <a16:creationId xmlns:a16="http://schemas.microsoft.com/office/drawing/2014/main" id="{2D44DFCE-6BD0-EF4F-931C-AC5A943D7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0933" y="1378424"/>
            <a:ext cx="955079" cy="955079"/>
          </a:xfrm>
          <a:prstGeom prst="rect">
            <a:avLst/>
          </a:prstGeom>
        </p:spPr>
      </p:pic>
      <p:pic>
        <p:nvPicPr>
          <p:cNvPr id="11" name="Graphic 10" descr="Badge 3 outline">
            <a:extLst>
              <a:ext uri="{FF2B5EF4-FFF2-40B4-BE49-F238E27FC236}">
                <a16:creationId xmlns:a16="http://schemas.microsoft.com/office/drawing/2014/main" id="{0150C980-04B9-2864-6BA5-94330FD47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4236" y="7063670"/>
            <a:ext cx="1029283" cy="102928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669B31-CABA-E479-B7FB-C68B39DA9064}"/>
              </a:ext>
            </a:extLst>
          </p:cNvPr>
          <p:cNvCxnSpPr>
            <a:cxnSpLocks/>
          </p:cNvCxnSpPr>
          <p:nvPr/>
        </p:nvCxnSpPr>
        <p:spPr>
          <a:xfrm>
            <a:off x="6053098" y="23332"/>
            <a:ext cx="0" cy="10776431"/>
          </a:xfrm>
          <a:prstGeom prst="line">
            <a:avLst/>
          </a:prstGeom>
          <a:ln w="25400">
            <a:solidFill>
              <a:schemeClr val="tx1">
                <a:alpha val="44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6B6D71-2EBC-A6E5-9D88-946BB8F8C1B3}"/>
              </a:ext>
            </a:extLst>
          </p:cNvPr>
          <p:cNvCxnSpPr>
            <a:cxnSpLocks/>
          </p:cNvCxnSpPr>
          <p:nvPr/>
        </p:nvCxnSpPr>
        <p:spPr>
          <a:xfrm>
            <a:off x="35510" y="5782782"/>
            <a:ext cx="6017588" cy="0"/>
          </a:xfrm>
          <a:prstGeom prst="line">
            <a:avLst/>
          </a:prstGeom>
          <a:ln w="25400">
            <a:solidFill>
              <a:schemeClr val="tx1">
                <a:alpha val="44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1382</TotalTime>
  <Words>139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67</cp:revision>
  <dcterms:created xsi:type="dcterms:W3CDTF">2023-04-04T10:49:23Z</dcterms:created>
  <dcterms:modified xsi:type="dcterms:W3CDTF">2025-01-02T04:02:23Z</dcterms:modified>
</cp:coreProperties>
</file>