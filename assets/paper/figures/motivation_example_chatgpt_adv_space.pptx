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08062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266"/>
  </p:normalViewPr>
  <p:slideViewPr>
    <p:cSldViewPr snapToGrid="0">
      <p:cViewPr varScale="1">
        <p:scale>
          <a:sx n="155" d="100"/>
          <a:sy n="155" d="100"/>
        </p:scale>
        <p:origin x="184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589241"/>
            <a:ext cx="7560469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1891070"/>
            <a:ext cx="7560469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9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76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897613"/>
            <a:ext cx="8694539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2409468"/>
            <a:ext cx="8694539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5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958453"/>
            <a:ext cx="4284266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958453"/>
            <a:ext cx="4284266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9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91691"/>
            <a:ext cx="8694539" cy="695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882610"/>
            <a:ext cx="426457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1315164"/>
            <a:ext cx="4264576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882610"/>
            <a:ext cx="4285579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1315164"/>
            <a:ext cx="4285579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0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6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5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40030"/>
            <a:ext cx="3251264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518398"/>
            <a:ext cx="5103316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080135"/>
            <a:ext cx="3251264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9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40030"/>
            <a:ext cx="3251264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518398"/>
            <a:ext cx="5103316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080135"/>
            <a:ext cx="3251264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07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191691"/>
            <a:ext cx="2173635" cy="30512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191691"/>
            <a:ext cx="6394896" cy="30512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3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191691"/>
            <a:ext cx="8694539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958453"/>
            <a:ext cx="8694539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3337084"/>
            <a:ext cx="226814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15520-4C8E-7C41-A006-81AD4A898AF7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3337084"/>
            <a:ext cx="340221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3337084"/>
            <a:ext cx="226814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F388F-B8E7-5946-83B7-ABCAC4DD6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09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932D54-C030-44C5-2B0E-BD2E1069E54D}"/>
              </a:ext>
            </a:extLst>
          </p:cNvPr>
          <p:cNvSpPr txBox="1"/>
          <p:nvPr/>
        </p:nvSpPr>
        <p:spPr>
          <a:xfrm>
            <a:off x="87776" y="119228"/>
            <a:ext cx="53848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0" i="0" u="none" strike="noStrike" dirty="0">
                <a:effectLst/>
                <a:latin typeface="Arial" panose="020B0604020202020204" pitchFamily="34" charset="0"/>
              </a:rPr>
              <a:t>Does this program have a bug? How to fix it?</a:t>
            </a:r>
            <a:endParaRPr lang="en-SG" sz="2000" b="1" dirty="0">
              <a:solidFill>
                <a:srgbClr val="C00000"/>
              </a:solidFill>
            </a:endParaRPr>
          </a:p>
          <a:p>
            <a:r>
              <a:rPr lang="en-SG" sz="2400" b="1" dirty="0">
                <a:solidFill>
                  <a:srgbClr val="C00000"/>
                </a:solidFill>
              </a:rPr>
              <a:t>def</a:t>
            </a:r>
            <a:r>
              <a:rPr lang="en-SG" sz="2400" dirty="0"/>
              <a:t> </a:t>
            </a:r>
            <a:r>
              <a:rPr lang="en-SG" sz="2400" dirty="0" err="1"/>
              <a:t>bucketsort</a:t>
            </a:r>
            <a:r>
              <a:rPr lang="en-SG" sz="2400" dirty="0">
                <a:solidFill>
                  <a:srgbClr val="000000"/>
                </a:solidFill>
              </a:rPr>
              <a:t>(</a:t>
            </a:r>
            <a:r>
              <a:rPr lang="en-SG" sz="2400" dirty="0" err="1">
                <a:effectLst/>
                <a:latin typeface="Helvetica" pitchFamily="2" charset="0"/>
              </a:rPr>
              <a:t>arr</a:t>
            </a:r>
            <a:r>
              <a:rPr lang="en-SG" sz="2400" dirty="0"/>
              <a:t>, k </a:t>
            </a:r>
            <a:r>
              <a:rPr lang="en-SG" sz="2400" dirty="0">
                <a:solidFill>
                  <a:srgbClr val="000000"/>
                </a:solidFill>
              </a:rPr>
              <a:t>)</a:t>
            </a:r>
            <a:r>
              <a:rPr lang="en-SG" sz="2400" dirty="0"/>
              <a:t>: </a:t>
            </a:r>
          </a:p>
          <a:p>
            <a:pPr lvl="1"/>
            <a:r>
              <a:rPr lang="en-SG" sz="2400" dirty="0"/>
              <a:t>counts = </a:t>
            </a:r>
            <a:r>
              <a:rPr lang="en-SG" sz="2400" dirty="0">
                <a:solidFill>
                  <a:srgbClr val="000000"/>
                </a:solidFill>
              </a:rPr>
              <a:t>[</a:t>
            </a:r>
            <a:r>
              <a:rPr lang="en-SG" sz="2400" dirty="0">
                <a:solidFill>
                  <a:srgbClr val="C00000"/>
                </a:solidFill>
              </a:rPr>
              <a:t>0</a:t>
            </a:r>
            <a:r>
              <a:rPr lang="en-SG" sz="2400" dirty="0">
                <a:solidFill>
                  <a:srgbClr val="000000"/>
                </a:solidFill>
              </a:rPr>
              <a:t>]</a:t>
            </a:r>
            <a:r>
              <a:rPr lang="en-SG" sz="2400" dirty="0"/>
              <a:t> * k </a:t>
            </a:r>
          </a:p>
          <a:p>
            <a:pPr lvl="1"/>
            <a:r>
              <a:rPr lang="en-SG" sz="2400" b="1" dirty="0">
                <a:solidFill>
                  <a:srgbClr val="C00000"/>
                </a:solidFill>
              </a:rPr>
              <a:t>for</a:t>
            </a:r>
            <a:r>
              <a:rPr lang="en-SG" sz="2400" dirty="0"/>
              <a:t> x </a:t>
            </a:r>
            <a:r>
              <a:rPr lang="en-SG" sz="2400" b="1" dirty="0">
                <a:solidFill>
                  <a:srgbClr val="C00000"/>
                </a:solidFill>
              </a:rPr>
              <a:t>in</a:t>
            </a:r>
            <a:r>
              <a:rPr lang="en-SG" sz="2400" dirty="0"/>
              <a:t> </a:t>
            </a:r>
            <a:r>
              <a:rPr lang="en-SG" sz="2400" dirty="0" err="1">
                <a:effectLst/>
                <a:latin typeface="Helvetica" pitchFamily="2" charset="0"/>
              </a:rPr>
              <a:t>arr</a:t>
            </a:r>
            <a:r>
              <a:rPr lang="en-SG" sz="2400" dirty="0"/>
              <a:t>: </a:t>
            </a:r>
          </a:p>
          <a:p>
            <a:pPr lvl="1"/>
            <a:r>
              <a:rPr lang="en-SG" sz="2400" dirty="0"/>
              <a:t>	counts</a:t>
            </a:r>
            <a:r>
              <a:rPr lang="en-SG" sz="2400" dirty="0">
                <a:solidFill>
                  <a:srgbClr val="000000"/>
                </a:solidFill>
              </a:rPr>
              <a:t>[</a:t>
            </a:r>
            <a:r>
              <a:rPr lang="en-SG" sz="2400" dirty="0"/>
              <a:t>x</a:t>
            </a:r>
            <a:r>
              <a:rPr lang="en-SG" sz="2400" dirty="0">
                <a:solidFill>
                  <a:srgbClr val="000000"/>
                </a:solidFill>
              </a:rPr>
              <a:t>]</a:t>
            </a:r>
            <a:r>
              <a:rPr lang="en-SG" sz="2400" dirty="0"/>
              <a:t> += </a:t>
            </a:r>
            <a:r>
              <a:rPr lang="en-SG" sz="2400" dirty="0">
                <a:solidFill>
                  <a:srgbClr val="C00000"/>
                </a:solidFill>
              </a:rPr>
              <a:t>1 </a:t>
            </a:r>
            <a:r>
              <a:rPr lang="en-SG" sz="2400" dirty="0"/>
              <a:t>  </a:t>
            </a:r>
          </a:p>
          <a:p>
            <a:pPr lvl="1"/>
            <a:r>
              <a:rPr lang="en-SG" sz="2400" dirty="0" err="1"/>
              <a:t>sorted_arr</a:t>
            </a:r>
            <a:r>
              <a:rPr lang="en-SG" sz="2400" dirty="0"/>
              <a:t> = </a:t>
            </a:r>
            <a:r>
              <a:rPr lang="en-SG" sz="2400" dirty="0">
                <a:solidFill>
                  <a:srgbClr val="000000"/>
                </a:solidFill>
              </a:rPr>
              <a:t>[]</a:t>
            </a:r>
            <a:r>
              <a:rPr lang="en-SG" sz="2400" dirty="0"/>
              <a:t> </a:t>
            </a:r>
          </a:p>
          <a:p>
            <a:pPr lvl="1"/>
            <a:r>
              <a:rPr lang="en-SG" sz="2400" b="1" dirty="0">
                <a:solidFill>
                  <a:srgbClr val="C00000"/>
                </a:solidFill>
              </a:rPr>
              <a:t>for</a:t>
            </a:r>
            <a:r>
              <a:rPr lang="en-SG" sz="2400" dirty="0"/>
              <a:t> </a:t>
            </a:r>
            <a:r>
              <a:rPr lang="en-SG" sz="2400" dirty="0" err="1"/>
              <a:t>i</a:t>
            </a:r>
            <a:r>
              <a:rPr lang="en-SG" sz="2400" dirty="0"/>
              <a:t>, count </a:t>
            </a:r>
            <a:r>
              <a:rPr lang="en-SG" sz="2400" b="1" dirty="0">
                <a:solidFill>
                  <a:srgbClr val="C00000"/>
                </a:solidFill>
              </a:rPr>
              <a:t>in</a:t>
            </a:r>
            <a:r>
              <a:rPr lang="en-SG" sz="2400" dirty="0"/>
              <a:t> enumerate</a:t>
            </a:r>
            <a:r>
              <a:rPr lang="en-SG" sz="2400" dirty="0">
                <a:solidFill>
                  <a:srgbClr val="000000"/>
                </a:solidFill>
              </a:rPr>
              <a:t>(</a:t>
            </a:r>
            <a:r>
              <a:rPr lang="en-SG" sz="2400" u="sng" dirty="0">
                <a:effectLst/>
                <a:latin typeface="Helvetica" pitchFamily="2" charset="0"/>
              </a:rPr>
              <a:t> </a:t>
            </a:r>
            <a:r>
              <a:rPr lang="en-SG" sz="2400" u="sng" dirty="0" err="1">
                <a:effectLst/>
                <a:latin typeface="Helvetica" pitchFamily="2" charset="0"/>
              </a:rPr>
              <a:t>arr</a:t>
            </a:r>
            <a:r>
              <a:rPr lang="en-SG" sz="2400" u="sng" dirty="0">
                <a:effectLst/>
                <a:latin typeface="Helvetica" pitchFamily="2" charset="0"/>
              </a:rPr>
              <a:t> </a:t>
            </a:r>
            <a:r>
              <a:rPr lang="en-SG" sz="2400" dirty="0">
                <a:solidFill>
                  <a:srgbClr val="000000"/>
                </a:solidFill>
              </a:rPr>
              <a:t>)</a:t>
            </a:r>
            <a:r>
              <a:rPr lang="en-SG" sz="2400" dirty="0"/>
              <a:t>:</a:t>
            </a:r>
          </a:p>
          <a:p>
            <a:pPr lvl="1"/>
            <a:r>
              <a:rPr lang="en-SG" sz="2400" dirty="0"/>
              <a:t>	 </a:t>
            </a:r>
            <a:r>
              <a:rPr lang="en-SG" sz="2400" dirty="0" err="1"/>
              <a:t>sorted_arr.</a:t>
            </a:r>
            <a:r>
              <a:rPr lang="en-SG" sz="2400" dirty="0" err="1">
                <a:solidFill>
                  <a:srgbClr val="000000"/>
                </a:solidFill>
              </a:rPr>
              <a:t>extend</a:t>
            </a:r>
            <a:r>
              <a:rPr lang="en-SG" sz="2400" dirty="0">
                <a:solidFill>
                  <a:srgbClr val="000000"/>
                </a:solidFill>
              </a:rPr>
              <a:t>([</a:t>
            </a:r>
            <a:r>
              <a:rPr lang="en-SG" sz="2400" dirty="0" err="1"/>
              <a:t>i</a:t>
            </a:r>
            <a:r>
              <a:rPr lang="en-SG" sz="2400" dirty="0">
                <a:solidFill>
                  <a:srgbClr val="000000"/>
                </a:solidFill>
              </a:rPr>
              <a:t>]</a:t>
            </a:r>
            <a:r>
              <a:rPr lang="en-SG" sz="2400" dirty="0"/>
              <a:t> * count </a:t>
            </a:r>
            <a:r>
              <a:rPr lang="en-SG" sz="2400" dirty="0">
                <a:solidFill>
                  <a:srgbClr val="000000"/>
                </a:solidFill>
              </a:rPr>
              <a:t>)</a:t>
            </a:r>
            <a:r>
              <a:rPr lang="en-SG" sz="2400" dirty="0"/>
              <a:t>   </a:t>
            </a:r>
          </a:p>
          <a:p>
            <a:pPr lvl="1"/>
            <a:r>
              <a:rPr lang="en-SG" sz="2400" b="1" dirty="0">
                <a:solidFill>
                  <a:srgbClr val="C00000"/>
                </a:solidFill>
              </a:rPr>
              <a:t>return</a:t>
            </a:r>
            <a:r>
              <a:rPr lang="en-SG" sz="2400" dirty="0"/>
              <a:t> </a:t>
            </a:r>
            <a:r>
              <a:rPr lang="en-SG" sz="2400" dirty="0" err="1"/>
              <a:t>sorted_arr</a:t>
            </a:r>
            <a:r>
              <a:rPr lang="en-SG" sz="2400" dirty="0"/>
              <a:t>  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BB76D6-0CBA-C28C-7A28-275332D563E2}"/>
              </a:ext>
            </a:extLst>
          </p:cNvPr>
          <p:cNvSpPr txBox="1"/>
          <p:nvPr/>
        </p:nvSpPr>
        <p:spPr>
          <a:xfrm>
            <a:off x="5345241" y="0"/>
            <a:ext cx="46476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br>
              <a:rPr lang="en-SG" b="0" i="0" dirty="0">
                <a:solidFill>
                  <a:srgbClr val="353740"/>
                </a:solidFill>
                <a:effectLst/>
                <a:latin typeface="ColfaxAI"/>
              </a:rPr>
            </a:b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Yes, this program has a bug. The bug is that the variable "counts" is not being initialized correctly. The code should be changed to: </a:t>
            </a:r>
          </a:p>
          <a:p>
            <a:pPr algn="just"/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def </a:t>
            </a:r>
            <a:r>
              <a:rPr lang="en-SG" b="0" i="0" dirty="0" err="1">
                <a:solidFill>
                  <a:srgbClr val="353740"/>
                </a:solidFill>
                <a:effectLst/>
                <a:latin typeface="ColfaxAI"/>
              </a:rPr>
              <a:t>bucketsort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(</a:t>
            </a:r>
            <a:r>
              <a:rPr lang="en-SG" b="0" i="0" dirty="0" err="1">
                <a:solidFill>
                  <a:srgbClr val="353740"/>
                </a:solidFill>
                <a:effectLst/>
                <a:latin typeface="ColfaxAI"/>
              </a:rPr>
              <a:t>arr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, k): </a:t>
            </a:r>
          </a:p>
          <a:p>
            <a:pPr algn="just"/>
            <a:r>
              <a:rPr lang="en-SG" dirty="0">
                <a:solidFill>
                  <a:srgbClr val="353740"/>
                </a:solidFill>
                <a:latin typeface="ColfaxAI"/>
              </a:rPr>
              <a:t>	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counts = [0] * </a:t>
            </a:r>
            <a:r>
              <a:rPr lang="en-SG" b="0" i="0" dirty="0">
                <a:solidFill>
                  <a:srgbClr val="353740"/>
                </a:solidFill>
                <a:effectLst/>
                <a:highlight>
                  <a:srgbClr val="C0C0C0"/>
                </a:highlight>
                <a:latin typeface="ColfaxAI"/>
              </a:rPr>
              <a:t>(k+1) </a:t>
            </a:r>
          </a:p>
          <a:p>
            <a:pPr algn="just"/>
            <a:r>
              <a:rPr lang="en-SG" dirty="0">
                <a:solidFill>
                  <a:srgbClr val="353740"/>
                </a:solidFill>
                <a:latin typeface="ColfaxAI"/>
              </a:rPr>
              <a:t>	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for x in </a:t>
            </a:r>
            <a:r>
              <a:rPr lang="en-SG" b="0" i="0" dirty="0" err="1">
                <a:solidFill>
                  <a:srgbClr val="353740"/>
                </a:solidFill>
                <a:effectLst/>
                <a:latin typeface="ColfaxAI"/>
              </a:rPr>
              <a:t>arr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: </a:t>
            </a:r>
          </a:p>
          <a:p>
            <a:pPr algn="just"/>
            <a:r>
              <a:rPr lang="en-SG" dirty="0">
                <a:solidFill>
                  <a:srgbClr val="353740"/>
                </a:solidFill>
                <a:latin typeface="ColfaxAI"/>
              </a:rPr>
              <a:t>		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counts[x] += 1 </a:t>
            </a:r>
          </a:p>
          <a:p>
            <a:pPr algn="just"/>
            <a:r>
              <a:rPr lang="en-SG" dirty="0">
                <a:solidFill>
                  <a:srgbClr val="353740"/>
                </a:solidFill>
                <a:latin typeface="ColfaxAI"/>
              </a:rPr>
              <a:t>	</a:t>
            </a:r>
            <a:r>
              <a:rPr lang="en-SG" b="0" i="0" dirty="0" err="1">
                <a:solidFill>
                  <a:srgbClr val="353740"/>
                </a:solidFill>
                <a:effectLst/>
                <a:latin typeface="ColfaxAI"/>
              </a:rPr>
              <a:t>sorted_arr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 = [] </a:t>
            </a:r>
          </a:p>
          <a:p>
            <a:pPr algn="just"/>
            <a:r>
              <a:rPr lang="en-SG" dirty="0">
                <a:solidFill>
                  <a:srgbClr val="353740"/>
                </a:solidFill>
                <a:latin typeface="ColfaxAI"/>
              </a:rPr>
              <a:t>	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for </a:t>
            </a:r>
            <a:r>
              <a:rPr lang="en-SG" b="0" i="0" dirty="0" err="1">
                <a:solidFill>
                  <a:srgbClr val="353740"/>
                </a:solidFill>
                <a:effectLst/>
                <a:latin typeface="ColfaxAI"/>
              </a:rPr>
              <a:t>i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, count in enumerate( </a:t>
            </a:r>
            <a:r>
              <a:rPr lang="en-SG" b="0" i="0" dirty="0">
                <a:solidFill>
                  <a:srgbClr val="353740"/>
                </a:solidFill>
                <a:effectLst/>
                <a:highlight>
                  <a:srgbClr val="C0C0C0"/>
                </a:highlight>
                <a:latin typeface="ColfaxAI"/>
              </a:rPr>
              <a:t>counts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 ): 			</a:t>
            </a:r>
            <a:r>
              <a:rPr lang="en-SG" b="0" i="0" dirty="0" err="1">
                <a:solidFill>
                  <a:srgbClr val="353740"/>
                </a:solidFill>
                <a:effectLst/>
                <a:latin typeface="ColfaxAI"/>
              </a:rPr>
              <a:t>sorted_arr.extend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([</a:t>
            </a:r>
            <a:r>
              <a:rPr lang="en-SG" b="0" i="0" dirty="0" err="1">
                <a:solidFill>
                  <a:srgbClr val="353740"/>
                </a:solidFill>
                <a:effectLst/>
                <a:latin typeface="ColfaxAI"/>
              </a:rPr>
              <a:t>i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] * count) </a:t>
            </a:r>
          </a:p>
          <a:p>
            <a:pPr algn="just"/>
            <a:r>
              <a:rPr lang="en-SG" dirty="0">
                <a:solidFill>
                  <a:srgbClr val="353740"/>
                </a:solidFill>
                <a:latin typeface="ColfaxAI"/>
              </a:rPr>
              <a:t>	</a:t>
            </a:r>
            <a:r>
              <a:rPr lang="en-SG" b="0" i="0" dirty="0">
                <a:solidFill>
                  <a:srgbClr val="353740"/>
                </a:solidFill>
                <a:effectLst/>
                <a:latin typeface="ColfaxAI"/>
              </a:rPr>
              <a:t>return </a:t>
            </a:r>
            <a:r>
              <a:rPr lang="en-SG" b="0" i="0" dirty="0" err="1">
                <a:solidFill>
                  <a:srgbClr val="353740"/>
                </a:solidFill>
                <a:effectLst/>
                <a:latin typeface="ColfaxAI"/>
              </a:rPr>
              <a:t>sorted_arr</a:t>
            </a:r>
            <a:endParaRPr lang="en-SG" dirty="0">
              <a:effectLst/>
              <a:latin typeface="Helvetica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63A27E-42A4-AFFA-D80E-4B8426374336}"/>
              </a:ext>
            </a:extLst>
          </p:cNvPr>
          <p:cNvCxnSpPr/>
          <p:nvPr/>
        </p:nvCxnSpPr>
        <p:spPr>
          <a:xfrm>
            <a:off x="5345241" y="-7227"/>
            <a:ext cx="0" cy="3607677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336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41</TotalTime>
  <Words>168</Words>
  <Application>Microsoft Macintosh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ColfaxAI</vt:lpstr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39</cp:revision>
  <dcterms:created xsi:type="dcterms:W3CDTF">2023-05-01T10:47:09Z</dcterms:created>
  <dcterms:modified xsi:type="dcterms:W3CDTF">2023-05-01T11:54:48Z</dcterms:modified>
</cp:coreProperties>
</file>