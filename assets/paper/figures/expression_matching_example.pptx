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7" r:id="rId2"/>
  </p:sldIdLst>
  <p:sldSz cx="197993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3"/>
    <p:restoredTop sz="94645"/>
  </p:normalViewPr>
  <p:slideViewPr>
    <p:cSldViewPr snapToGrid="0">
      <p:cViewPr varScale="1">
        <p:scale>
          <a:sx n="82" d="100"/>
          <a:sy n="82" d="100"/>
        </p:scale>
        <p:origin x="184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4913" y="942577"/>
            <a:ext cx="14849475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913" y="3025045"/>
            <a:ext cx="14849475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4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3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890" y="1435864"/>
            <a:ext cx="17076896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890" y="3854300"/>
            <a:ext cx="17076896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90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1202" y="1533187"/>
            <a:ext cx="8414703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3395" y="1533187"/>
            <a:ext cx="8414703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1" y="306638"/>
            <a:ext cx="17076896" cy="111322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782" y="1411865"/>
            <a:ext cx="8376031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782" y="2103799"/>
            <a:ext cx="8376031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3396" y="1411865"/>
            <a:ext cx="8417281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3396" y="2103799"/>
            <a:ext cx="8417281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9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1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7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383963"/>
            <a:ext cx="6385789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7281" y="829255"/>
            <a:ext cx="10023396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1727835"/>
            <a:ext cx="6385789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6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383963"/>
            <a:ext cx="6385789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7281" y="829255"/>
            <a:ext cx="10023396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1727835"/>
            <a:ext cx="6385789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0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8874" y="306637"/>
            <a:ext cx="4269224" cy="488086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1202" y="306637"/>
            <a:ext cx="12560181" cy="48808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6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202" y="306638"/>
            <a:ext cx="17076896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202" y="1533187"/>
            <a:ext cx="17076896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202" y="5338158"/>
            <a:ext cx="4454843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E6D23-A432-B54B-8DF0-05EAC6F97989}" type="datetimeFigureOut">
              <a:rPr lang="en-US" smtClean="0"/>
              <a:t>5/6/23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8518" y="5338158"/>
            <a:ext cx="668226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3255" y="5338158"/>
            <a:ext cx="4454843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81087-2CFE-7842-80E8-BDE41A650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1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1BD33-ABA4-43AC-8C9B-98E9C6DE602C}"/>
              </a:ext>
            </a:extLst>
          </p:cNvPr>
          <p:cNvSpPr txBox="1"/>
          <p:nvPr/>
        </p:nvSpPr>
        <p:spPr>
          <a:xfrm>
            <a:off x="780504" y="175225"/>
            <a:ext cx="104388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000" dirty="0" err="1"/>
              <a:t>base_borrow_rate</a:t>
            </a:r>
            <a:r>
              <a:rPr lang="en-SG" sz="4000" dirty="0"/>
              <a:t> </a:t>
            </a:r>
            <a:r>
              <a:rPr lang="en-SG" sz="4000" dirty="0">
                <a:solidFill>
                  <a:srgbClr val="C00000"/>
                </a:solidFill>
              </a:rPr>
              <a:t>+</a:t>
            </a:r>
            <a:r>
              <a:rPr lang="en-SG" sz="4000" dirty="0"/>
              <a:t> </a:t>
            </a:r>
            <a:r>
              <a:rPr lang="en-SG" sz="4000" dirty="0" err="1"/>
              <a:t>utilization_rate</a:t>
            </a:r>
            <a:r>
              <a:rPr lang="en-SG" sz="4000" dirty="0"/>
              <a:t> </a:t>
            </a:r>
            <a:r>
              <a:rPr lang="en-SG" sz="4000" dirty="0">
                <a:solidFill>
                  <a:srgbClr val="C00000"/>
                </a:solidFill>
              </a:rPr>
              <a:t>*</a:t>
            </a:r>
            <a:r>
              <a:rPr lang="en-SG" sz="4000" dirty="0"/>
              <a:t> slope1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DE277E-03D6-F466-50BF-DB52785D4387}"/>
              </a:ext>
            </a:extLst>
          </p:cNvPr>
          <p:cNvSpPr txBox="1"/>
          <p:nvPr/>
        </p:nvSpPr>
        <p:spPr>
          <a:xfrm>
            <a:off x="634968" y="2636985"/>
            <a:ext cx="15675055" cy="3785652"/>
          </a:xfrm>
          <a:prstGeom prst="rect">
            <a:avLst/>
          </a:prstGeom>
          <a:noFill/>
          <a:ln w="15875">
            <a:noFill/>
            <a:prstDash val="dash"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 err="1">
                <a:solidFill>
                  <a:srgbClr val="000000"/>
                </a:solidFill>
              </a:rPr>
              <a:t>base_borrow_rate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>
                <a:solidFill>
                  <a:srgbClr val="C00000"/>
                </a:solidFill>
              </a:rPr>
              <a:t>-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 err="1">
                <a:solidFill>
                  <a:srgbClr val="000000"/>
                </a:solidFill>
              </a:rPr>
              <a:t>utilization_rate</a:t>
            </a:r>
            <a:r>
              <a:rPr lang="en-SG" sz="4000" dirty="0">
                <a:solidFill>
                  <a:srgbClr val="000000"/>
                </a:solidFill>
              </a:rPr>
              <a:t> </a:t>
            </a:r>
            <a:r>
              <a:rPr lang="en-SG" sz="4000" dirty="0">
                <a:solidFill>
                  <a:srgbClr val="C00000"/>
                </a:solidFill>
              </a:rPr>
              <a:t>+</a:t>
            </a:r>
            <a:r>
              <a:rPr lang="en-SG" sz="4000" dirty="0">
                <a:solidFill>
                  <a:srgbClr val="000000"/>
                </a:solidFill>
              </a:rPr>
              <a:t> slope1</a:t>
            </a:r>
          </a:p>
          <a:p>
            <a:pPr marL="342900" indent="-342900">
              <a:buAutoNum type="arabicPeriod"/>
            </a:pPr>
            <a:r>
              <a:rPr lang="en-SG" sz="4000" dirty="0">
                <a:solidFill>
                  <a:srgbClr val="000000"/>
                </a:solidFill>
              </a:rPr>
              <a:t> a </a:t>
            </a:r>
            <a:r>
              <a:rPr lang="en-SG" sz="4000" dirty="0">
                <a:solidFill>
                  <a:srgbClr val="C00000"/>
                </a:solidFill>
              </a:rPr>
              <a:t>+</a:t>
            </a:r>
            <a:r>
              <a:rPr lang="en-SG" sz="4000" dirty="0">
                <a:solidFill>
                  <a:srgbClr val="000000"/>
                </a:solidFill>
              </a:rPr>
              <a:t> b</a:t>
            </a:r>
          </a:p>
          <a:p>
            <a:r>
              <a:rPr lang="en-SG" sz="4000" dirty="0">
                <a:solidFill>
                  <a:srgbClr val="000000"/>
                </a:solidFill>
              </a:rPr>
              <a:t> …</a:t>
            </a:r>
          </a:p>
          <a:p>
            <a:r>
              <a:rPr lang="en-SG" sz="4000" dirty="0"/>
              <a:t>n. rate </a:t>
            </a:r>
            <a:r>
              <a:rPr lang="en-SG" sz="4000" dirty="0">
                <a:solidFill>
                  <a:srgbClr val="C00000"/>
                </a:solidFill>
              </a:rPr>
              <a:t>+</a:t>
            </a:r>
            <a:r>
              <a:rPr lang="en-SG" sz="4000" dirty="0"/>
              <a:t> </a:t>
            </a:r>
            <a:r>
              <a:rPr lang="en-SG" sz="4000" dirty="0" err="1"/>
              <a:t>ur</a:t>
            </a:r>
            <a:r>
              <a:rPr lang="en-SG" sz="4000" dirty="0"/>
              <a:t> </a:t>
            </a:r>
            <a:r>
              <a:rPr lang="en-SG" sz="4000" dirty="0">
                <a:solidFill>
                  <a:srgbClr val="C00000"/>
                </a:solidFill>
              </a:rPr>
              <a:t>*</a:t>
            </a:r>
            <a:r>
              <a:rPr lang="en-SG" sz="4000" dirty="0"/>
              <a:t> s1</a:t>
            </a:r>
          </a:p>
          <a:p>
            <a:r>
              <a:rPr lang="en-SG" sz="4000" dirty="0">
                <a:solidFill>
                  <a:srgbClr val="000000"/>
                </a:solidFill>
              </a:rPr>
              <a:t>…</a:t>
            </a:r>
          </a:p>
          <a:p>
            <a:endParaRPr lang="en-SG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D02D8D-1260-4003-7865-A7AA44C33C1D}"/>
              </a:ext>
            </a:extLst>
          </p:cNvPr>
          <p:cNvSpPr/>
          <p:nvPr/>
        </p:nvSpPr>
        <p:spPr>
          <a:xfrm>
            <a:off x="92988" y="33371"/>
            <a:ext cx="11003263" cy="91440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B07262-F8DA-5CC3-419E-8938D48007C9}"/>
              </a:ext>
            </a:extLst>
          </p:cNvPr>
          <p:cNvSpPr/>
          <p:nvPr/>
        </p:nvSpPr>
        <p:spPr>
          <a:xfrm>
            <a:off x="180760" y="2702771"/>
            <a:ext cx="12772603" cy="297918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C0FB402D-3EE2-8E5A-D4A1-58987D082A7A}"/>
              </a:ext>
            </a:extLst>
          </p:cNvPr>
          <p:cNvSpPr/>
          <p:nvPr/>
        </p:nvSpPr>
        <p:spPr>
          <a:xfrm>
            <a:off x="1951498" y="1201874"/>
            <a:ext cx="405416" cy="1222513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Shape&#10;&#10;Description automatically generated with low confidence">
            <a:extLst>
              <a:ext uri="{FF2B5EF4-FFF2-40B4-BE49-F238E27FC236}">
                <a16:creationId xmlns:a16="http://schemas.microsoft.com/office/drawing/2014/main" id="{9E015427-9C0E-632A-9356-17747397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726" y="1376040"/>
            <a:ext cx="756041" cy="75604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4C72C40-13BD-8BBF-282F-214335D9B005}"/>
              </a:ext>
            </a:extLst>
          </p:cNvPr>
          <p:cNvSpPr txBox="1"/>
          <p:nvPr/>
        </p:nvSpPr>
        <p:spPr>
          <a:xfrm>
            <a:off x="3105334" y="1229639"/>
            <a:ext cx="79909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/>
              <a:t>What is the most similar expression with above?</a:t>
            </a:r>
          </a:p>
        </p:txBody>
      </p:sp>
      <p:pic>
        <p:nvPicPr>
          <p:cNvPr id="35" name="Graphic 34" descr="Help with solid fill">
            <a:extLst>
              <a:ext uri="{FF2B5EF4-FFF2-40B4-BE49-F238E27FC236}">
                <a16:creationId xmlns:a16="http://schemas.microsoft.com/office/drawing/2014/main" id="{30665174-3D80-99E9-DFE9-A076073F0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726" y="203167"/>
            <a:ext cx="615778" cy="615778"/>
          </a:xfrm>
          <a:prstGeom prst="rect">
            <a:avLst/>
          </a:prstGeom>
        </p:spPr>
      </p:pic>
      <p:pic>
        <p:nvPicPr>
          <p:cNvPr id="37" name="Graphic 36" descr="Database with solid fill">
            <a:extLst>
              <a:ext uri="{FF2B5EF4-FFF2-40B4-BE49-F238E27FC236}">
                <a16:creationId xmlns:a16="http://schemas.microsoft.com/office/drawing/2014/main" id="{89DF9482-7691-A176-4DE4-8ED03ECF50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720" y="2717389"/>
            <a:ext cx="667519" cy="66751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81E0C52-E596-FD2C-16E3-285634323DC3}"/>
              </a:ext>
            </a:extLst>
          </p:cNvPr>
          <p:cNvSpPr/>
          <p:nvPr/>
        </p:nvSpPr>
        <p:spPr>
          <a:xfrm>
            <a:off x="15753127" y="152663"/>
            <a:ext cx="556896" cy="52674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+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87138D-FCE5-B11C-240E-52E1610767B9}"/>
              </a:ext>
            </a:extLst>
          </p:cNvPr>
          <p:cNvSpPr/>
          <p:nvPr/>
        </p:nvSpPr>
        <p:spPr>
          <a:xfrm>
            <a:off x="13713200" y="1203014"/>
            <a:ext cx="3423493" cy="5994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base_borrow_rate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36690F-D24F-D7F8-98CA-B2166ED3379B}"/>
              </a:ext>
            </a:extLst>
          </p:cNvPr>
          <p:cNvSpPr/>
          <p:nvPr/>
        </p:nvSpPr>
        <p:spPr>
          <a:xfrm>
            <a:off x="14333626" y="2841962"/>
            <a:ext cx="2893751" cy="418374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utilization_rate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72D69A-8014-18D6-C2FD-15A245A620B4}"/>
              </a:ext>
            </a:extLst>
          </p:cNvPr>
          <p:cNvSpPr/>
          <p:nvPr/>
        </p:nvSpPr>
        <p:spPr>
          <a:xfrm>
            <a:off x="17569354" y="1203177"/>
            <a:ext cx="556896" cy="526748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C3C3C4-CDB2-A48A-DD04-D8A4EF4A6EDA}"/>
              </a:ext>
            </a:extLst>
          </p:cNvPr>
          <p:cNvSpPr/>
          <p:nvPr/>
        </p:nvSpPr>
        <p:spPr>
          <a:xfrm>
            <a:off x="17894226" y="2806216"/>
            <a:ext cx="1724314" cy="418374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slope1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628662-4F74-B9F3-2B96-DC1DFC75C550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15780502" y="1729925"/>
            <a:ext cx="2067300" cy="111203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BCB2D3-22E7-A8FC-2F9A-F9321C784FF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7847802" y="1729925"/>
            <a:ext cx="908581" cy="107629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A1B542-BB07-C2A6-6FF1-8108F7AB015E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16031575" y="679411"/>
            <a:ext cx="1816227" cy="52376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899CC2-99DE-DF4E-2BE9-913EC617F738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15424947" y="679411"/>
            <a:ext cx="606628" cy="52360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1FA6471-EDC2-D603-2792-AB1F2D13704B}"/>
              </a:ext>
            </a:extLst>
          </p:cNvPr>
          <p:cNvSpPr/>
          <p:nvPr/>
        </p:nvSpPr>
        <p:spPr>
          <a:xfrm>
            <a:off x="13620212" y="110863"/>
            <a:ext cx="6086100" cy="3577734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4F8E70E-8C63-75C7-5D59-8CD1DC6B5A6D}"/>
              </a:ext>
            </a:extLst>
          </p:cNvPr>
          <p:cNvCxnSpPr>
            <a:cxnSpLocks/>
          </p:cNvCxnSpPr>
          <p:nvPr/>
        </p:nvCxnSpPr>
        <p:spPr>
          <a:xfrm flipV="1">
            <a:off x="11096251" y="493951"/>
            <a:ext cx="2523961" cy="1351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448212E-2312-4C50-4F84-E826D46E9417}"/>
              </a:ext>
            </a:extLst>
          </p:cNvPr>
          <p:cNvSpPr txBox="1"/>
          <p:nvPr/>
        </p:nvSpPr>
        <p:spPr>
          <a:xfrm>
            <a:off x="11432479" y="505944"/>
            <a:ext cx="19444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Exp Tree</a:t>
            </a:r>
          </a:p>
        </p:txBody>
      </p:sp>
    </p:spTree>
    <p:extLst>
      <p:ext uri="{BB962C8B-B14F-4D97-AF65-F5344CB8AC3E}">
        <p14:creationId xmlns:p14="http://schemas.microsoft.com/office/powerpoint/2010/main" val="296311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355</TotalTime>
  <Words>59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68</cp:revision>
  <dcterms:created xsi:type="dcterms:W3CDTF">2023-04-05T08:33:13Z</dcterms:created>
  <dcterms:modified xsi:type="dcterms:W3CDTF">2023-05-05T20:31:24Z</dcterms:modified>
</cp:coreProperties>
</file>